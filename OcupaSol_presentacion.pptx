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2f43eec-ee22-a04f-9c86-6a86d17e4ff0}">
          <p14:sldIdLst>
            <p14:sldId id="256"/>
          </p14:sldIdLst>
        </p14:section>
        <p14:section name="Contexto" id="{6cc3cfef-15ac-1e60-b287-176046be5f0e}">
          <p14:sldIdLst>
            <p14:sldId id="257"/>
            <p14:sldId id="258"/>
          </p14:sldIdLst>
        </p14:section>
        <p14:section name="Propuesta" id="{09946575-39c9-7cdf-27e6-a7ce741e3e10}">
          <p14:sldIdLst>
            <p14:sldId id="259"/>
          </p14:sldIdLst>
        </p14:section>
        <p14:section name="Desarrollo" id="{827c4fa8-cf0d-532b-5376-11a351d91cdd}">
          <p14:sldIdLst>
            <p14:sldId id="260"/>
            <p14:sldId id="261"/>
          </p14:sldIdLst>
        </p14:section>
        <p14:section name="Resultados" id="{596eb8e0-7e1c-d669-50ca-8d192d289a84}">
          <p14:sldIdLst>
            <p14:sldId id="262"/>
            <p14:sldId id="263"/>
          </p14:sldIdLst>
        </p14:section>
        <p14:section name="Cierre" id="{ad4f58f4-06da-64d7-4b5e-d23d42569b51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7EBF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E7EBF0"/>
                </a:solidFill>
                <a:latin typeface="+mn-lt"/>
              </a:rPr>
              <a:t>Ocupación media por mes, 2023–2025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Ocupación por plazas (%)</c:v>
                </c:pt>
              </c:strCache>
            </c:strRef>
          </c:tx>
          <c:spPr>
            <a:solidFill>
              <a:srgbClr val="4FB3E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7EB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FB3E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</c:v>
                </c:pt>
                <c:pt idx="1">
                  <c:v>53.6</c:v>
                </c:pt>
                <c:pt idx="2">
                  <c:v>56.2</c:v>
                </c:pt>
                <c:pt idx="3">
                  <c:v>66.1</c:v>
                </c:pt>
                <c:pt idx="4">
                  <c:v>68.8</c:v>
                </c:pt>
                <c:pt idx="5">
                  <c:v>71.4</c:v>
                </c:pt>
                <c:pt idx="6">
                  <c:v>76.3</c:v>
                </c:pt>
                <c:pt idx="7">
                  <c:v>81.9</c:v>
                </c:pt>
                <c:pt idx="8">
                  <c:v>72.5</c:v>
                </c:pt>
                <c:pt idx="9">
                  <c:v>68.9</c:v>
                </c:pt>
                <c:pt idx="10">
                  <c:v>52.4</c:v>
                </c:pt>
                <c:pt idx="11">
                  <c:v>45.5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E7EB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7EBF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E7EBF0"/>
                </a:solidFill>
                <a:latin typeface="+mn-lt"/>
              </a:rPr>
              <a:t>Error medio (MAE, p.p.) en 36 meses de backtesting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OcupaSol</c:v>
                </c:pt>
              </c:strCache>
            </c:strRef>
          </c:tx>
          <c:spPr>
            <a:solidFill>
              <a:srgbClr val="4FB3E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7EB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Marbella</c:v>
                  </c:pt>
                  <c:pt idx="1">
                    <c:v>Torremolinos</c:v>
                  </c:pt>
                  <c:pt idx="2">
                    <c:v>Fuengirola</c:v>
                  </c:pt>
                  <c:pt idx="3">
                    <c:v>Benalmádena</c:v>
                  </c:pt>
                  <c:pt idx="4">
                    <c:v>Estepona</c:v>
                  </c:pt>
                  <c:pt idx="5">
                    <c:v>Nerja</c:v>
                  </c:pt>
                  <c:pt idx="6">
                    <c:v>Costa del Sol</c:v>
                  </c:pt>
                  <c:pt idx="7">
                    <c:v>Málaga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2.64</c:v>
                </c:pt>
                <c:pt idx="1">
                  <c:v>2.5</c:v>
                </c:pt>
                <c:pt idx="2">
                  <c:v>4.32</c:v>
                </c:pt>
                <c:pt idx="3">
                  <c:v>4.51</c:v>
                </c:pt>
                <c:pt idx="4">
                  <c:v>4.74</c:v>
                </c:pt>
                <c:pt idx="5">
                  <c:v>4.53</c:v>
                </c:pt>
                <c:pt idx="6">
                  <c:v>2.17</c:v>
                </c:pt>
                <c:pt idx="7">
                  <c:v>2.55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Igual que el año pasado</c:v>
                </c:pt>
              </c:strCache>
            </c:strRef>
          </c:tx>
          <c:spPr>
            <a:solidFill>
              <a:srgbClr val="2C35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7EB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Marbella</c:v>
                  </c:pt>
                  <c:pt idx="1">
                    <c:v>Torremolinos</c:v>
                  </c:pt>
                  <c:pt idx="2">
                    <c:v>Fuengirola</c:v>
                  </c:pt>
                  <c:pt idx="3">
                    <c:v>Benalmádena</c:v>
                  </c:pt>
                  <c:pt idx="4">
                    <c:v>Estepona</c:v>
                  </c:pt>
                  <c:pt idx="5">
                    <c:v>Nerja</c:v>
                  </c:pt>
                  <c:pt idx="6">
                    <c:v>Costa del Sol</c:v>
                  </c:pt>
                  <c:pt idx="7">
                    <c:v>Málaga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3.08</c:v>
                </c:pt>
                <c:pt idx="1">
                  <c:v>2.91</c:v>
                </c:pt>
                <c:pt idx="2">
                  <c:v>4.84</c:v>
                </c:pt>
                <c:pt idx="3">
                  <c:v>4.81</c:v>
                </c:pt>
                <c:pt idx="4">
                  <c:v>5.04</c:v>
                </c:pt>
                <c:pt idx="5">
                  <c:v>4.68</c:v>
                </c:pt>
                <c:pt idx="6">
                  <c:v>2.2</c:v>
                </c:pt>
                <c:pt idx="7">
                  <c:v>2.54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E7EB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7EBF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OcupaSol, un predictor de ocupación hotelera para la Costa del Sol pensado para pequeños y medianos hoteles. Es el proyecto del Módulo 5 del curso de IA y Big Data en entornos 5G.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iniciativa nace del proyecto del curso. Elegimos el predictor porque había datos oficiales y abiertos. Ya existen herramientas profesionales, pero son de pago y pensadas para cadenas; el INE publica datos pero solo históricos.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ocupación es muy estacional: del 45 % en enero a más del 80 % en agosto, y cambia de un año a otro. Equivocarse cuesta dinero. Las herramientas buenas son caras y cerradas, así que los hoteles pequeños se quedan 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dar a un hotel pequeño una previsión de su zona y traducirla a decisiones. Frente a lo que existe, OcupaSol es gratuita, transparente y no pide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las cinco fases del curso, apoyándonos en un agente de IA para generar y corregir el código, y documentamos cada prompt e iteración. Las decisiones más relevantes salieron de comparar siempre contra la referencia más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script en Python descarga los datos de la API del INE y genera el dataset. El modelo es una regresión ridge escrita en JavaScript, un modelo por zona, que corre en el navegador. No hay backend ni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Validamos con backtesting: entrenamos hasta un punto y predecimos los 12 meses siguientes, tres veces. El modelo baja el error medio de 3,8 a 3,5 puntos y mejora sobre todo en Marbella y Torremolinos; en Málaga empata. La variable de Semana Santa redujo el error de marzo y abril de 4,55 a 4,33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en Inicio explicamos qué hace y la privacidad. En Panel vemos evolución, municipios, origen y estacionalidad. En Predicción movemos habitaciones (hasta 150) y precio (hasta 400 €): la app detecta el tipo de hotel y recalcula ocupación, ingresos, personal y consejos al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Concluimos que los datos públicos bastan para una herramienta útil si se es transparente con el error. Próximos pasos: contrastar con AEHCOS, explicar cada predicción, informe descargable y sustituir la suposición de precio por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 por vuestra atención. Repositorio y demo en los enlaces.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f8c985c-ce0b-581b-8607-698722cf20f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66344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sucamchi.github.io/OcupaSol/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camchi/OcupaSol" TargetMode="External"/><Relationship Id="rId4" Type="http://schemas.openxmlformats.org/officeDocument/2006/relationships/hyperlink" Target="https://sucamchi.github.io/OcupaSol/" TargetMode="External"/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e fondo" descr="/tmp/claude-0/-home-claude/7f8c985c-ce0b-581b-8607-698722cf20fb/scratchpad/build/bienveni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lo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61C">
              <a:alpha val="82000"/>
            </a:srgbClr>
          </a:solidFill>
          <a:ln/>
        </p:spPr>
      </p:sp>
      <p:pic>
        <p:nvPicPr>
          <p:cNvPr id="4" name="Image 1" descr="Logo de OcupaS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OcupaSol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Predictor de ocupación hotelera para la Costa del Sol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Datos públicos del INE convertidos en decisiones para pymes hoteleras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Proyecto Módulo 5 · Programación en IA y Big Data aplicables en entornos 5G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Contexto y antecedentes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Origen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184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Proyecto final del Módulo 5. Entre tres ideas (predictor hotelero, chatbot del temario y app para personas con visión reducida) elegimos la más factible con datos abiertos.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Contexto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8833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 turismo es el motor de la Costa del Sol: la ocupación marca plantillas, precios y campañas de cientos de hoteles.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65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 que ya existe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581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Software de revenue management (IDeaS, Duetto, RoomPriceGenie), previsiones de AEHCOS en prensa y la Encuesta de Ocupación Hotelera del INE, solo histórica.</a:t>
            </a:r>
            <a:endParaRPr lang="en-US" sz="1400" dirty="0"/>
          </a:p>
        </p:txBody>
      </p:sp>
      <p:sp>
        <p:nvSpPr>
          <p:cNvPr id="10" name="Cifra 1"/>
          <p:cNvSpPr/>
          <p:nvPr/>
        </p:nvSpPr>
        <p:spPr>
          <a:xfrm>
            <a:off x="5669280" y="13258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435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100.095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892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plazas hoteleras (ago. 2026)</a:t>
            </a:r>
            <a:endParaRPr lang="en-US" sz="1200" dirty="0"/>
          </a:p>
        </p:txBody>
      </p:sp>
      <p:sp>
        <p:nvSpPr>
          <p:cNvPr id="13" name="Cifra 2"/>
          <p:cNvSpPr/>
          <p:nvPr/>
        </p:nvSpPr>
        <p:spPr>
          <a:xfrm>
            <a:off x="5669280" y="2395728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2505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505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962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establecimientos abiertos</a:t>
            </a:r>
            <a:endParaRPr lang="en-US" sz="1200" dirty="0"/>
          </a:p>
        </p:txBody>
      </p:sp>
      <p:sp>
        <p:nvSpPr>
          <p:cNvPr id="16" name="Cifra 3"/>
          <p:cNvSpPr/>
          <p:nvPr/>
        </p:nvSpPr>
        <p:spPr>
          <a:xfrm>
            <a:off x="5669280" y="3465576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77,6 %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032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pernoctaciones de extranjeros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3"/>
                </a:solidFill>
              </a:rPr>
              <a:t>Fuente: INE, Costa del Sol (total)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problema y la oportunidad</a:t>
            </a:r>
            <a:endParaRPr lang="en-US" sz="3000" dirty="0"/>
          </a:p>
        </p:txBody>
      </p:sp>
      <p:sp>
        <p:nvSpPr>
          <p:cNvPr id="4" name="Tarjeta gráfico"/>
          <p:cNvSpPr/>
          <p:nvPr/>
        </p:nvSpPr>
        <p:spPr>
          <a:xfrm>
            <a:off x="457200" y="128016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graphicFrame>
        <p:nvGraphicFramePr>
          <p:cNvPr id="5" name="Estacionalidad" descr=""/>
          <p:cNvGraphicFramePr/>
          <p:nvPr/>
        </p:nvGraphicFramePr>
        <p:xfrm>
          <a:off x="548640" y="1371600"/>
          <a:ext cx="4572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 un hotel se equivoca al prever la demanda…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556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89320" y="1737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Contrata personal de más o de menos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2860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22677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Fija precios equivocados y pierde ingresos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81635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989320" y="27980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Lanza campañas a destiempo</a:t>
            </a:r>
            <a:endParaRPr lang="en-US" sz="1400" dirty="0"/>
          </a:p>
        </p:txBody>
      </p:sp>
      <p:sp>
        <p:nvSpPr>
          <p:cNvPr id="13" name="Oportunidad"/>
          <p:cNvSpPr/>
          <p:nvPr/>
        </p:nvSpPr>
        <p:spPr>
          <a:xfrm>
            <a:off x="5577840" y="342900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7607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La oportunidad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760720" y="381304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Las pymes hoteleras no pueden pagar herramientas profesionales y planifican «a ojo» o copiando el año anterior.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Objetivos y propuesta de valor</a:t>
            </a:r>
            <a:endParaRPr lang="en-US" sz="3000" dirty="0"/>
          </a:p>
        </p:txBody>
      </p:sp>
      <p:sp>
        <p:nvSpPr>
          <p:cNvPr id="4" name="Para quién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25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Para quién: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pymes hoteleras independientes de hasta 150 habitaciones — boutique o rurales, urbanos o de playa y vacacionales.</a:t>
            </a:r>
            <a:endParaRPr lang="en-US" sz="1400" dirty="0"/>
          </a:p>
        </p:txBody>
      </p:sp>
      <p:sp>
        <p:nvSpPr>
          <p:cNvPr id="7" name="Valor 1"/>
          <p:cNvSpPr/>
          <p:nvPr/>
        </p:nvSpPr>
        <p:spPr>
          <a:xfrm>
            <a:off x="457200" y="2194560"/>
            <a:ext cx="1947672" cy="2514600"/>
          </a:xfrm>
          <a:prstGeom prst="roundRect">
            <a:avLst>
              <a:gd name="adj" fmla="val 3756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2161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146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Predicción a 12 meses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611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Por zona y municipio, con intervalo de confianza del 90 %.</a:t>
            </a:r>
            <a:endParaRPr lang="en-US" sz="1200" dirty="0"/>
          </a:p>
        </p:txBody>
      </p:sp>
      <p:sp>
        <p:nvSpPr>
          <p:cNvPr id="12" name="Valor 2"/>
          <p:cNvSpPr/>
          <p:nvPr/>
        </p:nvSpPr>
        <p:spPr>
          <a:xfrm>
            <a:off x="2569464" y="2194560"/>
            <a:ext cx="1947672" cy="2514600"/>
          </a:xfrm>
          <a:prstGeom prst="roundRect">
            <a:avLst>
              <a:gd name="adj" fmla="val 3756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52344" y="2377440"/>
            <a:ext cx="548640" cy="548640"/>
          </a:xfrm>
          <a:prstGeom prst="ellipse">
            <a:avLst/>
          </a:prstGeom>
          <a:solidFill>
            <a:srgbClr val="12161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25146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52344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Decisiones concretas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752344" y="3611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Habitaciones ocupadas, ingresos, plantilla y precio orientativo.</a:t>
            </a:r>
            <a:endParaRPr lang="en-US" sz="1200" dirty="0"/>
          </a:p>
        </p:txBody>
      </p:sp>
      <p:sp>
        <p:nvSpPr>
          <p:cNvPr id="17" name="Valor 3"/>
          <p:cNvSpPr/>
          <p:nvPr/>
        </p:nvSpPr>
        <p:spPr>
          <a:xfrm>
            <a:off x="4681728" y="2194560"/>
            <a:ext cx="1947672" cy="2514600"/>
          </a:xfrm>
          <a:prstGeom prst="roundRect">
            <a:avLst>
              <a:gd name="adj" fmla="val 3756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864608" y="2377440"/>
            <a:ext cx="548640" cy="548640"/>
          </a:xfrm>
          <a:prstGeom prst="ellipse">
            <a:avLst/>
          </a:prstGeom>
          <a:solidFill>
            <a:srgbClr val="12161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5146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64608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Panel del destino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864608" y="3611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Histórico desde 1999, comparativa de municipios y estacionalidad.</a:t>
            </a:r>
            <a:endParaRPr lang="en-US" sz="1200" dirty="0"/>
          </a:p>
        </p:txBody>
      </p:sp>
      <p:sp>
        <p:nvSpPr>
          <p:cNvPr id="22" name="Valor 4"/>
          <p:cNvSpPr/>
          <p:nvPr/>
        </p:nvSpPr>
        <p:spPr>
          <a:xfrm>
            <a:off x="6793992" y="2194560"/>
            <a:ext cx="1947672" cy="2514600"/>
          </a:xfrm>
          <a:prstGeom prst="roundRect">
            <a:avLst>
              <a:gd name="adj" fmla="val 3756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976872" y="2377440"/>
            <a:ext cx="548640" cy="548640"/>
          </a:xfrm>
          <a:prstGeom prst="ellipse">
            <a:avLst/>
          </a:prstGeom>
          <a:solidFill>
            <a:srgbClr val="12161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25146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76872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Transparente y privada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976872" y="3611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Muestra su error real. Sin registro ni datos personales.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Enfoque y desarrollo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7498080" cy="0"/>
          </a:xfrm>
          <a:prstGeom prst="line">
            <a:avLst/>
          </a:prstGeom>
          <a:noFill/>
          <a:ln w="25400">
            <a:solidFill>
              <a:srgbClr val="2C3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4FB3E0"/>
          </a:solidFill>
          <a:ln w="38100">
            <a:solidFill>
              <a:srgbClr val="1216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Fase 1 · Definición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042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Sector, problema, usuario y capacidad de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76856" y="1417320"/>
            <a:ext cx="457200" cy="457200"/>
          </a:xfrm>
          <a:prstGeom prst="ellipse">
            <a:avLst/>
          </a:prstGeom>
          <a:solidFill>
            <a:srgbClr val="4FB3E0"/>
          </a:solidFill>
          <a:ln w="38100">
            <a:solidFill>
              <a:srgbClr val="1216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7685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Fase 2 · Diseño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3042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Benchmarking y prompt estructurado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59352" y="1417320"/>
            <a:ext cx="457200" cy="457200"/>
          </a:xfrm>
          <a:prstGeom prst="ellipse">
            <a:avLst/>
          </a:prstGeom>
          <a:solidFill>
            <a:srgbClr val="4FB3E0"/>
          </a:solidFill>
          <a:ln w="38100">
            <a:solidFill>
              <a:srgbClr val="1216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5935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Fase 3 · MVP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22192" y="23042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Dataset INE de 2.035 registros y app HTML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41848" y="1417320"/>
            <a:ext cx="457200" cy="457200"/>
          </a:xfrm>
          <a:prstGeom prst="ellipse">
            <a:avLst/>
          </a:prstGeom>
          <a:solidFill>
            <a:srgbClr val="4FB3E0"/>
          </a:solidFill>
          <a:ln w="38100">
            <a:solidFill>
              <a:srgbClr val="1216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418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Fase 4 · Mejora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04688" y="23042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Semana Santa, controles de hotel, tipos de hotel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24344" y="1417320"/>
            <a:ext cx="457200" cy="457200"/>
          </a:xfrm>
          <a:prstGeom prst="ellipse">
            <a:avLst/>
          </a:prstGeom>
          <a:solidFill>
            <a:srgbClr val="F2B84B"/>
          </a:solidFill>
          <a:ln w="38100">
            <a:solidFill>
              <a:srgbClr val="1216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2434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Fase 5 · Validación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23042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Pruebas, registro de errores y correcciones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Decisiones clave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02152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04672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Predecir la variación interanual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no el nivel: el MAE bajó de 4,06 a 3,88 p.p.</a:t>
            </a:r>
            <a:endParaRPr lang="en-US" sz="13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502152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010912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Excluir la COVID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(mar. 2020 – dic. 2021) del entrenamiento</a:t>
            </a:r>
            <a:endParaRPr lang="en-US" sz="13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04672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Demanda por terciles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del histórico de cada zona, no umbrales fijos</a:t>
            </a:r>
            <a:endParaRPr lang="en-US" sz="13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069080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010912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Dataset embebido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para abrir la app sin servidor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Arquitectura de la solución</a:t>
            </a:r>
            <a:endParaRPr lang="en-US" sz="3000" dirty="0"/>
          </a:p>
        </p:txBody>
      </p:sp>
      <p:sp>
        <p:nvSpPr>
          <p:cNvPr id="4" name="Componente 1"/>
          <p:cNvSpPr/>
          <p:nvPr/>
        </p:nvSpPr>
        <p:spPr>
          <a:xfrm>
            <a:off x="457200" y="132588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87452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 del 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76272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6 tablas: EOH e indicadores de rentabilidad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65960" y="2029968"/>
            <a:ext cx="150876" cy="182880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9" name="Componente 2"/>
          <p:cNvSpPr/>
          <p:nvPr/>
        </p:nvSpPr>
        <p:spPr>
          <a:xfrm>
            <a:off x="2144268" y="132588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8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1428" y="187452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build_dataset.py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281428" y="2176272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Descarga y limpieza (Python estándar)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3028" y="2029968"/>
            <a:ext cx="150876" cy="182880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14" name="Componente 3"/>
          <p:cNvSpPr/>
          <p:nvPr/>
        </p:nvSpPr>
        <p:spPr>
          <a:xfrm>
            <a:off x="3831336" y="132588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14630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68496" y="187452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Dataset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968496" y="2176272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CSV + dataset.js · 16 variables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340096" y="2029968"/>
            <a:ext cx="150876" cy="182880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19" name="Componente 4"/>
          <p:cNvSpPr/>
          <p:nvPr/>
        </p:nvSpPr>
        <p:spPr>
          <a:xfrm>
            <a:off x="5518404" y="132588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564" y="14630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55564" y="187452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model.js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655564" y="2176272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Ridge en JavaScript + backtesting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027164" y="2029968"/>
            <a:ext cx="150876" cy="182880"/>
          </a:xfrm>
          <a:prstGeom prst="rightArrow">
            <a:avLst/>
          </a:prstGeom>
          <a:solidFill>
            <a:srgbClr val="F2B84B"/>
          </a:solidFill>
          <a:ln/>
        </p:spPr>
      </p:sp>
      <p:sp>
        <p:nvSpPr>
          <p:cNvPr id="24" name="Componente 5"/>
          <p:cNvSpPr/>
          <p:nvPr/>
        </p:nvSpPr>
        <p:spPr>
          <a:xfrm>
            <a:off x="7205472" y="132588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4630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42632" y="187452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app.js + Chart.js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342632" y="2176272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Panel, predicción, datos</a:t>
            </a:r>
            <a:endParaRPr lang="en-US" sz="1100" dirty="0"/>
          </a:p>
        </p:txBody>
      </p:sp>
      <p:sp>
        <p:nvSpPr>
          <p:cNvPr id="28" name="Modelo"/>
          <p:cNvSpPr/>
          <p:nvPr/>
        </p:nvSpPr>
        <p:spPr>
          <a:xfrm>
            <a:off x="457200" y="3154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4008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Cómo predice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3547872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Parte del mismo mes del año anterior y lo corrige con: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tendencia interanual de los últimos 3 meses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cambio de ese mes el año pasado y pérdida de fuerza con el horizonte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cambio de fecha de la Semana Santa (marzo o abril)</a:t>
            </a:r>
            <a:endParaRPr lang="en-US" sz="1200" dirty="0"/>
          </a:p>
        </p:txBody>
      </p:sp>
      <p:sp>
        <p:nvSpPr>
          <p:cNvPr id="31" name="Seguridad"/>
          <p:cNvSpPr/>
          <p:nvPr/>
        </p:nvSpPr>
        <p:spPr>
          <a:xfrm>
            <a:off x="5760720" y="315468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94360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100 % en el navegador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Sin servidor, claves de API ni datos personales. Entradas validadas y texto escapado. Intervalo 90 % = ±1,645 × RMSE.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Resultados obtenidos</a:t>
            </a:r>
            <a:endParaRPr lang="en-US" sz="3000" dirty="0"/>
          </a:p>
        </p:txBody>
      </p:sp>
      <p:sp>
        <p:nvSpPr>
          <p:cNvPr id="4" name="Tarjeta resultados"/>
          <p:cNvSpPr/>
          <p:nvPr/>
        </p:nvSpPr>
        <p:spPr>
          <a:xfrm>
            <a:off x="457200" y="12801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graphicFrame>
        <p:nvGraphicFramePr>
          <p:cNvPr id="5" name="MAE por zona" descr=""/>
          <p:cNvGraphicFramePr/>
          <p:nvPr/>
        </p:nvGraphicFramePr>
        <p:xfrm>
          <a:off x="548640" y="1371600"/>
          <a:ext cx="5212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17920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3,5 p.p.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error medio del modelo (frente a 3,8 de la referencia)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 de 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zonas donde mejora o iguala a la referencia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−14 %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de error en Marbella y Torremolinos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Aprendizaje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977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 modelo más complejo no siempre gana a la referencia simple: por eso la app enseña ambos errores.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Presentación del MVP</a:t>
            </a:r>
            <a:endParaRPr lang="en-US" sz="3000" dirty="0"/>
          </a:p>
        </p:txBody>
      </p:sp>
      <p:pic>
        <p:nvPicPr>
          <p:cNvPr id="4" name="Captura predicción" descr="Pestaña Predicción de Ocupa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486400" cy="25097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Predicción para tu hotel: ocupación, ingresos, personal y recomendaciones</a:t>
            </a:r>
            <a:endParaRPr lang="en-US" sz="1100" dirty="0"/>
          </a:p>
        </p:txBody>
      </p:sp>
      <p:pic>
        <p:nvPicPr>
          <p:cNvPr id="6" name="Captura panel" descr="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2468880" cy="116456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Panel del destino</a:t>
            </a:r>
            <a:endParaRPr lang="en-US" sz="1100" dirty="0"/>
          </a:p>
        </p:txBody>
      </p:sp>
      <p:pic>
        <p:nvPicPr>
          <p:cNvPr id="8" name="Captura inicio" descr="Inic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88920"/>
            <a:ext cx="2468880" cy="133742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21792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3"/>
                </a:solidFill>
              </a:rPr>
              <a:t>Bienvenida y privacidad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Demo en vivo: </a:t>
            </a:r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sucamchi.github.io/OcupaSol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Conclusiones, mejoras futuras y hoja de ruta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Conclusiones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91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Con datos públicos se puede dar a una pyme una previsión útil y honesta.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5059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Traducir la ocupación a personal, precio e ingresos es lo que más valor aporta.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211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2960" y="3154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Medir siempre contra la referencia simple evita una falsa precisión.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1363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296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Límite: la relación precio-ocupación es una suposición, no se aprende de los datos.</a:t>
            </a:r>
            <a:endParaRPr lang="en-US" sz="1300" dirty="0"/>
          </a:p>
        </p:txBody>
      </p:sp>
      <p:sp>
        <p:nvSpPr>
          <p:cNvPr id="13" name="Corto plazo"/>
          <p:cNvSpPr/>
          <p:nvPr/>
        </p:nvSpPr>
        <p:spPr>
          <a:xfrm>
            <a:off x="4572000" y="128016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75488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Corto plazo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4754880" y="17373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Comparar con las previsiones de AEHCOS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Selector plazas / habitaciones en el panel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Explicación de cada predicción en lenguaje sencillo</a:t>
            </a:r>
            <a:endParaRPr lang="en-US" sz="1300" dirty="0"/>
          </a:p>
        </p:txBody>
      </p:sp>
      <p:sp>
        <p:nvSpPr>
          <p:cNvPr id="16" name="Medio plazo"/>
          <p:cNvSpPr/>
          <p:nvPr/>
        </p:nvSpPr>
        <p:spPr>
          <a:xfrm>
            <a:off x="4572000" y="301752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75488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Medio plazo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3474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Botón «Descargar informe» en PDF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Marcar la Semana Santa en los gráficos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Aprender la elasticidad del precio con datos reales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69087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e fondo" descr="/tmp/claude-0/-home-claude/7f8c985c-ce0b-581b-8607-698722cf20fb/scratchpad/build/predicc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lo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61C">
              <a:alpha val="85000"/>
            </a:srgbClr>
          </a:solidFill>
          <a:ln/>
        </p:spPr>
      </p:sp>
      <p:pic>
        <p:nvPicPr>
          <p:cNvPr id="4" name="Image 1" descr="Logo de OcupaS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¡Gracias! ¿Preguntas?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OcupaSol convierte datos públicos en decisiones concretas para tu hotel</a:t>
            </a:r>
            <a:endParaRPr lang="en-US" sz="1600" dirty="0"/>
          </a:p>
        </p:txBody>
      </p:sp>
      <p:sp>
        <p:nvSpPr>
          <p:cNvPr id="7" name="Equipo Susana"/>
          <p:cNvSpPr/>
          <p:nvPr/>
        </p:nvSpPr>
        <p:spPr>
          <a:xfrm>
            <a:off x="91440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515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Susana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Datos y modelo</a:t>
            </a:r>
            <a:endParaRPr lang="en-US" sz="1200" dirty="0"/>
          </a:p>
        </p:txBody>
      </p:sp>
      <p:sp>
        <p:nvSpPr>
          <p:cNvPr id="10" name="Equipo Mabel"/>
          <p:cNvSpPr/>
          <p:nvPr/>
        </p:nvSpPr>
        <p:spPr>
          <a:xfrm>
            <a:off x="342900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661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Mabel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Desarrollo y diseño</a:t>
            </a:r>
            <a:endParaRPr lang="en-US" sz="1200" dirty="0"/>
          </a:p>
        </p:txBody>
      </p:sp>
      <p:sp>
        <p:nvSpPr>
          <p:cNvPr id="13" name="Equipo Marta"/>
          <p:cNvSpPr/>
          <p:nvPr/>
        </p:nvSpPr>
        <p:spPr>
          <a:xfrm>
            <a:off x="594360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B2129"/>
          </a:solidFill>
          <a:ln w="9525">
            <a:solidFill>
              <a:srgbClr val="2C354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807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Marta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08076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3"/>
                </a:solidFill>
              </a:rPr>
              <a:t>Testing y documentación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9AA5B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github.com/sucamchi/OcupaSol</a:t>
            </a:r>
            <a:pPr algn="ctr" indent="0" marL="0">
              <a:buNone/>
            </a:pPr>
            <a:r>
              <a:rPr lang="en-US" sz="1300" dirty="0">
                <a:solidFill>
                  <a:srgbClr val="9AA5B3"/>
                </a:solidFill>
              </a:rPr>
              <a:t>   ·   </a:t>
            </a:r>
            <a:pPr algn="ctr" indent="0" marL="0">
              <a:buNone/>
            </a:pPr>
            <a:r>
              <a:rPr lang="en-US" sz="1300" u="sng" dirty="0">
                <a:solidFill>
                  <a:srgbClr val="9AA5B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sucamchi.github.io/OcupaSol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upaSol">
  <a:themeElements>
    <a:clrScheme name="OcupaSol">
      <a:dk1>
        <a:srgbClr val="12161C"/>
      </a:dk1>
      <a:lt1>
        <a:srgbClr val="FFFFFF"/>
      </a:lt1>
      <a:dk2>
        <a:srgbClr val="1B2129"/>
      </a:dk2>
      <a:lt2>
        <a:srgbClr val="E7EBF0"/>
      </a:lt2>
      <a:accent1>
        <a:srgbClr val="4FB3E0"/>
      </a:accent1>
      <a:accent2>
        <a:srgbClr val="F2B84B"/>
      </a:accent2>
      <a:accent3>
        <a:srgbClr val="4CC27C"/>
      </a:accent3>
      <a:accent4>
        <a:srgbClr val="EC6A5C"/>
      </a:accent4>
      <a:accent5>
        <a:srgbClr val="9AA5B3"/>
      </a:accent5>
      <a:accent6>
        <a:srgbClr val="2C3540"/>
      </a:accent6>
      <a:hlink>
        <a:srgbClr val="4FB3E0"/>
      </a:hlink>
      <a:folHlink>
        <a:srgbClr val="9AA5B3"/>
      </a:folHlink>
    </a:clrScheme>
    <a:fontScheme name="OcupaSo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OcupaSol — Predictor de ocupación hotelera</dc:title>
  <dc:subject>PptxGenJS Presentation</dc:subject>
  <dc:creator>Equipo OcupaSol</dc:creator>
  <cp:lastModifiedBy>Equipo OcupaSol</cp:lastModifiedBy>
  <cp:revision>1</cp:revision>
  <dcterms:created xsi:type="dcterms:W3CDTF">2026-10-21T09:45:13Z</dcterms:created>
  <dcterms:modified xsi:type="dcterms:W3CDTF">2026-10-21T09:45:13Z</dcterms:modified>
</cp:coreProperties>
</file>